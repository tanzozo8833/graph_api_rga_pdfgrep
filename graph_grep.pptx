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Microsoft 365 Keyword-Search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Hỏi đáp tài liệu OneDrive — không cần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3F2F1"/>
                </a:solidFill>
                <a:latin typeface="Segoe UI"/>
              </a:rPr>
              <a:t>Cảm hứng: paper 'Keyword search is all you need' (arxiv 2602.23368)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3F2F1"/>
                </a:solidFill>
                <a:latin typeface="Segoe UI"/>
              </a:rPr>
              <a:t>Microsoft Graph API  •  Azure OpenAI  •  LangChain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Vấn đề — RAG truyền thống quá phức tạp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86400" cy="21031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🧩  Chunking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Cắt nhỏ tài liệu, dễ mất ngữ cảnh giữa câu/bảng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59" y="1280160"/>
            <a:ext cx="5486400" cy="210312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💰  Embedding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Tốn chi phí tính vector cho mọi 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5486400" cy="210312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🗄  Vector DB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Phải vận hành thêm một service riêng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3749039"/>
            <a:ext cx="5486400" cy="21031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🎯  Exact match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Có thể miss mã sản phẩm / từ kỹ thuật hiếm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Giải pháp — Agentic Keyword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4782"/>
                </a:solidFill>
                <a:latin typeface="Segoe UI"/>
              </a:rPr>
              <a:t>Để LLM tự lái việc tìm kiếm — không pipeline cố định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194560" cy="24688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 tự sinh keyword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Synonyms, viết tắt, regex, OR-joined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286000"/>
            <a:ext cx="2194560" cy="246888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Index full-text có sẵn cho OneDrive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2194560" cy="246888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Tải file khi cần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Extract text bằng pdfplumber / docx / xlsx / pptx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286000"/>
            <a:ext cx="2194560" cy="246888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Grep với context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Regex multi-pattern, ±N dòng quanh hit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286000"/>
            <a:ext cx="2194560" cy="24688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 tự retry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Đổi chiến lược nếu chưa tìm thấy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05E5C"/>
                </a:solidFill>
                <a:latin typeface="Segoe UI"/>
              </a:rPr>
              <a:t>Microsoft đã có sẵn keyword index — không cần build lại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Các tác nhân tham gia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94560" cy="1005840"/>
          </a:xfrm>
          <a:prstGeom prst="roundRect">
            <a:avLst/>
          </a:prstGeom>
          <a:solidFill>
            <a:srgbClr val="00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👤 User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Người hỏi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9748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0" y="1188720"/>
            <a:ext cx="219456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🌐 Browser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Chat panel + SSE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4924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1188720"/>
            <a:ext cx="2194560" cy="100584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🔥 Flask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Route /ask + MSAL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01000" y="1508760"/>
            <a:ext cx="36576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3200400" cy="10058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🤖 LangChain Agent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Vòng lặp tool-use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784080" y="2286000"/>
            <a:ext cx="365760" cy="4572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3017520"/>
            <a:ext cx="301752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🧠 Azure OpenAI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gpt-4.1-mini quyết định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17520"/>
            <a:ext cx="3017520" cy="10058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☁ 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Search &amp; Download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17520"/>
            <a:ext cx="3017520" cy="100584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📦 Local Modules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Extractors + Cache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4114800"/>
            <a:ext cx="365760" cy="4572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754880"/>
            <a:ext cx="274320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🔎 graph_search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Tìm file theo keyword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754880"/>
            <a:ext cx="2743200" cy="12801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📥 fetch_file_text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Download + extract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754880"/>
            <a:ext cx="2743200" cy="12801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🔬 grep_context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Regex + context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Ba công cụ của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🔎  graph_search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Tham số: query (string)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Gọi POST /search/query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Trả về list file + snippet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OR-joined: 'k1 OR k2 OR k3'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657600" cy="8229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📥  fetch_file_text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Tham số: item_id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Download bytes từ Graph CDN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Extract: PDF / DOCX / XLSX / PPTX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Cache text vào 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657600" cy="8229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🔬  grep_context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11680"/>
            <a:ext cx="3657600" cy="4114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Tham số: item_id, patterns, ±N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Regex IGNORECASE trên cache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Merge overlapping windows</a:t>
            </a:r>
          </a:p>
          <a:p>
            <a:pPr algn="l"/>
            <a:r>
              <a:rPr sz="1400" b="0">
                <a:solidFill>
                  <a:srgbClr val="323130"/>
                </a:solidFill>
                <a:latin typeface="Segoe UI"/>
              </a:rPr>
              <a:t>• Trả về ±5 dòng quanh hit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Quy trình từ đầu đến cuối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User hỏi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Gõ câu hỏi vào chat panel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4708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80" y="1554480"/>
            <a:ext cx="548640" cy="548640"/>
          </a:xfrm>
          <a:prstGeom prst="ellipse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6264A7"/>
                </a:solidFill>
                <a:latin typeface="Segoe UI"/>
              </a:rPr>
              <a:t>Flask /ask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Khởi tạo agent với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3872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0520" y="1554480"/>
            <a:ext cx="548640" cy="54864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D83B01"/>
                </a:solidFill>
                <a:latin typeface="Segoe UI"/>
              </a:rPr>
              <a:t>LLM sinh keyword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OR-joined synonyms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3036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1554480"/>
            <a:ext cx="548640" cy="548640"/>
          </a:xfrm>
          <a:prstGeom prst="ellipse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107C41"/>
                </a:solidFill>
                <a:latin typeface="Segoe UI"/>
              </a:rPr>
              <a:t>graph_search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Microsoft Graph trả file + snippet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2200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38387"/>
                </a:solidFill>
                <a:latin typeface="Segoe UI"/>
              </a:rPr>
              <a:t>Đủ?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Snippet đã trả lời được?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1364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1554480"/>
            <a:ext cx="548640" cy="548640"/>
          </a:xfrm>
          <a:prstGeom prst="ellipse">
            <a:avLst/>
          </a:prstGeom>
          <a:solidFill>
            <a:srgbClr val="00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4782"/>
                </a:solidFill>
                <a:latin typeface="Segoe UI"/>
              </a:rPr>
              <a:t>fetch + grep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Đọc sâu nếu cần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05288" y="1719072"/>
            <a:ext cx="118872" cy="228600"/>
          </a:xfrm>
          <a:prstGeom prst="rightArrow">
            <a:avLst/>
          </a:prstGeom>
          <a:solidFill>
            <a:srgbClr val="60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7080" y="15544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286000"/>
            <a:ext cx="1554480" cy="182880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0" wrap="square"/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Final answer</a:t>
            </a:r>
          </a:p>
          <a:p>
            <a:pPr algn="ctr"/>
            <a:r>
              <a:rPr sz="1000" b="0">
                <a:solidFill>
                  <a:srgbClr val="323130"/>
                </a:solidFill>
                <a:latin typeface="Segoe UI"/>
              </a:rPr>
              <a:t>Tổng hợp + citation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4782"/>
                </a:solidFill>
                <a:latin typeface="Segoe UI"/>
              </a:rPr>
              <a:t>LLM tự quyết định bước tiếp theo — không phải pipeline cố định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  <a:latin typeface="Segoe UI"/>
              </a:rPr>
              <a:t>Mỗi bước được stream về browser qua Server-Sent Events (SSE)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Bước Search — tìm file qua keyword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20040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User Query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"What is the metrics
for RAG?"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31920" y="2606040"/>
            <a:ext cx="45720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18288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LLM Output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"metric OR evaluation
OR BLEU OR ROUGE"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2400" y="2606040"/>
            <a:ext cx="457200" cy="36576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3200400" cy="18288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Microsoft Graph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POST /search/query
→ list file + snippet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82"/>
                </a:solidFill>
                <a:latin typeface="Segoe UI"/>
              </a:rPr>
              <a:t>Microsoft đã index full-text — không cần ta tự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  <a:latin typeface="Segoe UI"/>
              </a:rPr>
              <a:t>Mỗi file kèm snippet ~240 ký tự quanh keyword khớp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Bước Fetch — tải file và extract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05E5C"/>
                </a:solidFill>
                <a:latin typeface="Segoe UI"/>
              </a:rPr>
              <a:t>Chỉ khi LLM cho rằng snippet chưa đủ trả lời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37744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📄 PDF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pdfplumber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2377440" cy="82296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📝 DOCX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python-docx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2377440" cy="82296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📊 XLSX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openpyxl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2377440" cy="82296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🎯 PPTX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python-pptx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3383280"/>
            <a:ext cx="54864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2286000"/>
            <a:ext cx="4114800" cy="274320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000" b="1">
                <a:solidFill>
                  <a:srgbClr val="004782"/>
                </a:solidFill>
                <a:latin typeface="Segoe UI"/>
              </a:rPr>
              <a:t>Extract Text</a:t>
            </a:r>
          </a:p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/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→ Bytes về RAM qua io.BytesIO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→ Parse theo từng định dạng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→ Markers [PAGE N] / [SHEET] / [SLIDE]</a:t>
            </a:r>
          </a:p>
          <a:p>
            <a:pPr algn="ctr"/>
            <a:r>
              <a:rPr sz="1300" b="0">
                <a:solidFill>
                  <a:srgbClr val="323130"/>
                </a:solidFill>
                <a:latin typeface="Segoe UI"/>
              </a:rPr>
              <a:t>→ Plain text dòng-by-dòng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3383280"/>
            <a:ext cx="54864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2286000"/>
            <a:ext cx="2743200" cy="274320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💾 Cache RAM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item_id → text
Grep lần sau
không download lại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Bước Grep — trích xuất ngữ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4782"/>
                </a:solidFill>
                <a:latin typeface="Segoe UI"/>
              </a:rPr>
              <a:t>Regex multi-pattern trên text đã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0" cy="10972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LLM sinh pattern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(metric|BLEU|ROUGE|recall|F1)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743200" y="2926080"/>
            <a:ext cx="457200" cy="36576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029200" cy="301752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/>
            <a:r>
              <a:rPr sz="1400" b="1">
                <a:solidFill>
                  <a:srgbClr val="004782"/>
                </a:solidFill>
                <a:latin typeface="Segoe UI"/>
              </a:rPr>
              <a:t>Output — chunk ±5 dòng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L11: Section 4. Evaluation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L12: </a:t>
            </a:r>
          </a:p>
          <a:p>
            <a:pPr algn="l"/>
            <a:r>
              <a:rPr sz="1100" b="1">
                <a:solidFill>
                  <a:srgbClr val="0078D4"/>
                </a:solidFill>
                <a:latin typeface="Segoe UI"/>
              </a:rPr>
              <a:t>&gt;&gt; L13: We use BLEU as primary metric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L14: and ROUGE-L for generation.</a:t>
            </a:r>
          </a:p>
          <a:p>
            <a:pPr algn="l"/>
            <a:r>
              <a:rPr sz="1100" b="0">
                <a:solidFill>
                  <a:srgbClr val="605E5C"/>
                </a:solidFill>
                <a:latin typeface="Segoe UI"/>
              </a:rPr>
              <a:t>   L15: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486400" cy="10058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Merge overlapping windows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2 hit gần nhau → 1 chunk duy nhất, tránh trùng lặp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5486400" cy="100584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Cap 10 chunks tối đa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Tránh nuốt hết context window của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486400" cy="1005840"/>
          </a:xfrm>
          <a:prstGeom prst="roundRect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Log vào debug/grep.log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Toàn bộ context được lưu để inspect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4864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Cite line number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LLM tham chiếu được dòng cụ thể trong câu trả lời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Bước Final — tổng hợp và trích dẫn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4114800"/>
          </a:xfrm>
          <a:prstGeom prst="round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Inputs vào LLM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• User query
• Search snippets
• Grep chunks
• File metadata
(Không có full text)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297680" y="3291840"/>
            <a:ext cx="45720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0" y="2377440"/>
            <a:ext cx="2560320" cy="2560320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🧠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LLM tổng hợp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89520" y="3291840"/>
            <a:ext cx="457200" cy="4572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566160" cy="41148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Final Answer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Câu trả lời ngắn gọn
+ Citation:
[file.pdf, L42]
[doc.docx, PAGE 3]
Người dùng click
mở file gốc trên OneDrive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4782"/>
                </a:solidFill>
                <a:latin typeface="Segoe UI"/>
              </a:rPr>
              <a:t>LLM phải cite — nếu không tìm thấy thì nói rõ, không bịa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So sánh — RAG truyền thống vs Agent này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69080"/>
                <a:gridCol w="406908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Tiêu chí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RAG truyền thống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Agentic Keyword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Hạ tầng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Vector DB riêng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Không cần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Chunking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Bắt buộc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Không cần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Có thể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Hoàn hảo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Cập nhật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Re-index toàn bộ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Tức thì (Microsoft index)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Snippet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Chunk cố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Context động ±N dòng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23130"/>
                          </a:solidFill>
                          <a:latin typeface="Segoe UI"/>
                        </a:rPr>
                        <a:t>Chi phí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83B01"/>
                          </a:solidFill>
                          <a:latin typeface="Segoe UI"/>
                        </a:rPr>
                        <a:t>Embedding + storage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7C41"/>
                          </a:solidFill>
                          <a:latin typeface="Segoe UI"/>
                        </a:rPr>
                        <a:t>Chỉ LLM calls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Kết luận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Đơn giản hơn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Không cần vector DB, không re-index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Tức thời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317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Microsoft index sẵn — query là có ngay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Không bao giờ miss mã sản phẩm / từ kỹ thuật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6052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LLM tự lái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519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Sinh keyword, retry chiến lược, cite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4782"/>
                </a:solidFill>
                <a:latin typeface="Segoe UI"/>
              </a:rPr>
              <a:t>Minh bạch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Mỗi bước stream realtime + log đầy đủ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Segoe UI"/>
              </a:rPr>
              <a:t>Microsoft 365 Keyword-Search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