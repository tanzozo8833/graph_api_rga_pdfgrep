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Microsoft 365 Keyword-Search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Question answering over OneDrive — without a vector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3F2F1"/>
                </a:solidFill>
                <a:latin typeface="Segoe UI"/>
              </a:rPr>
              <a:t>Inspired by 'Keyword search is all you need' (arxiv 2602.23368)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3F2F1"/>
                </a:solidFill>
                <a:latin typeface="Segoe UI"/>
              </a:rPr>
              <a:t>Microsoft Graph API  •  Azure OpenAI  •  LangChain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The Problem — Traditional RAG is too complex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486400" cy="21031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Chunking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Splits documents — context lost mid-sentence or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59" y="1280160"/>
            <a:ext cx="5486400" cy="210312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Embedding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Costly vector computation for every chunk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5486400" cy="210312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Vector DB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Another service to deploy and maintain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3749039"/>
            <a:ext cx="5486400" cy="210312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Exact match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Can miss product codes / rare technical terms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Our Approach — Agentic Keyword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4782"/>
                </a:solidFill>
                <a:latin typeface="Segoe UI"/>
              </a:rPr>
              <a:t>Let the LLM drive the search — no fixed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194560" cy="24688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LLM-generated keywords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Synonyms, abbreviations, regex, OR-joined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2286000"/>
            <a:ext cx="2194560" cy="246888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Microsoft Graph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Built-in full-text index for OneDrive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2194560" cy="246888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Download on demand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Extract text via pdfplumber / docx / xlsx / pptx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286000"/>
            <a:ext cx="2194560" cy="246888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Grep with context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Regex multi-pattern, plus or minus N lines per hit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2286000"/>
            <a:ext cx="2194560" cy="24688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Self-retry strategy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LLM tries new keywords if nothing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05E5C"/>
                </a:solidFill>
                <a:latin typeface="Segoe UI"/>
              </a:rPr>
              <a:t>Microsoft already indexes your content — no need to rebuild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Actors in the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94560" cy="1005840"/>
          </a:xfrm>
          <a:prstGeom prst="roundRect">
            <a:avLst/>
          </a:prstGeom>
          <a:solidFill>
            <a:srgbClr val="004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User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Asks the question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97480" y="1508760"/>
            <a:ext cx="36576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0" y="1188720"/>
            <a:ext cx="2194560" cy="10058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Browser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Chat panel + SSE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349240" y="1508760"/>
            <a:ext cx="36576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0" y="1188720"/>
            <a:ext cx="2194560" cy="100584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Flask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/ask route + MSAL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01000" y="1508760"/>
            <a:ext cx="36576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188720"/>
            <a:ext cx="3200400" cy="100584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LangChain Agent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Tool-use loop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784080" y="2286000"/>
            <a:ext cx="365760" cy="4572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3017520"/>
            <a:ext cx="3017520" cy="10058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Azure OpenAI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gpt-4.1-mini decides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017520"/>
            <a:ext cx="3017520" cy="100584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Microsoft Graph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Search and Download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017520"/>
            <a:ext cx="3017520" cy="100584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Local Modules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Extractors and Cache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600" y="4114800"/>
            <a:ext cx="365760" cy="4572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754880"/>
            <a:ext cx="274320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graph_search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Find files by keyword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754880"/>
            <a:ext cx="2743200" cy="128016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fetch_file_text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Download and extract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754880"/>
            <a:ext cx="2743200" cy="128016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grep_context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Regex with context window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The Agent's Three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graph_search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4114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Parameter: query (string)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Calls POST /search/query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Returns file list with snippets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OR-joined: 'k1 OR k2 OR k3'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097280"/>
            <a:ext cx="3657600" cy="82296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fetch_file_text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657600" cy="4114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Parameter: item_id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Downloads bytes from Graph CDN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Extracts: PDF / DOCX / XLSX / PPTX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Caches text in 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97280"/>
            <a:ext cx="3657600" cy="82296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grep_context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011680"/>
            <a:ext cx="3657600" cy="4114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Parameters: item_id, patterns, plus/minus N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Regex IGNORECASE on cached text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Merges overlapping windows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- Returns plus/minus 5 lines per hit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End-to-End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0078D4"/>
                </a:solidFill>
                <a:latin typeface="Segoe UI"/>
              </a:rPr>
              <a:t>User asks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Types question in chat panel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4708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8880" y="1554480"/>
            <a:ext cx="548640" cy="548640"/>
          </a:xfrm>
          <a:prstGeom prst="ellipse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6264A7"/>
                </a:solidFill>
                <a:latin typeface="Segoe UI"/>
              </a:rPr>
              <a:t>Flask /ask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Initializes agent with token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3872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60520" y="1554480"/>
            <a:ext cx="548640" cy="548640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D83B01"/>
                </a:solidFill>
                <a:latin typeface="Segoe UI"/>
              </a:rPr>
              <a:t>LLM generates keywords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OR-joined synonyms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3036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1554480"/>
            <a:ext cx="548640" cy="548640"/>
          </a:xfrm>
          <a:prstGeom prst="ellipse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107C41"/>
                </a:solidFill>
                <a:latin typeface="Segoe UI"/>
              </a:rPr>
              <a:t>graph_search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Microsoft Graph returns files + snippets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2200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43800" y="1554480"/>
            <a:ext cx="548640" cy="548640"/>
          </a:xfrm>
          <a:prstGeom prst="ellipse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038387"/>
                </a:solidFill>
                <a:latin typeface="Segoe UI"/>
              </a:rPr>
              <a:t>Enough?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Are snippets sufficient?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1364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1554480"/>
            <a:ext cx="548640" cy="548640"/>
          </a:xfrm>
          <a:prstGeom prst="ellipse">
            <a:avLst/>
          </a:prstGeom>
          <a:solidFill>
            <a:srgbClr val="004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004782"/>
                </a:solidFill>
                <a:latin typeface="Segoe UI"/>
              </a:rPr>
              <a:t>fetch + grep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Read deeper if needed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30528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27080" y="155448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0078D4"/>
                </a:solidFill>
                <a:latin typeface="Segoe UI"/>
              </a:rPr>
              <a:t>Final answer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Synthesis with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4782"/>
                </a:solidFill>
                <a:latin typeface="Segoe UI"/>
              </a:rPr>
              <a:t>The LLM decides the next step — not a hard-coded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120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  <a:latin typeface="Segoe UI"/>
              </a:rPr>
              <a:t>Each step is streamed to the browser via Server-Sent Events (SSE)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Search Step — find files by keyword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200400" cy="1828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User Query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"What is the metrics
for RAG?"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931920" y="2606040"/>
            <a:ext cx="45720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3200400" cy="18288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LLM Output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"metric OR evaluation
OR BLEU OR ROUGE"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72400" y="2606040"/>
            <a:ext cx="45720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3200400" cy="182880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Microsoft Graph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POST /search/query
returns file list + snippets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4782"/>
                </a:solidFill>
                <a:latin typeface="Segoe UI"/>
              </a:rPr>
              <a:t>Microsoft has already indexed the content — no need to rebuild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  <a:latin typeface="Segoe UI"/>
              </a:rPr>
              <a:t>Each file comes with a ~240 char snippet around the matched keyword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Fetch Step — download and extract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05E5C"/>
                </a:solidFill>
                <a:latin typeface="Segoe UI"/>
              </a:rPr>
              <a:t>Only when the LLM judges the snippet insufficient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37744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PDF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pdfplumber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2377440" cy="82296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DOCX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python-docx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2377440" cy="82296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XLSX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openpyxl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2377440" cy="82296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PPTX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python-pptx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3383280"/>
            <a:ext cx="548640" cy="4572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2286000"/>
            <a:ext cx="4114800" cy="2743200"/>
          </a:xfrm>
          <a:prstGeom prst="round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2000" b="1">
                <a:solidFill>
                  <a:srgbClr val="004782"/>
                </a:solidFill>
                <a:latin typeface="Segoe UI"/>
              </a:rPr>
              <a:t>Extract Text</a:t>
            </a:r>
          </a:p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/>
            </a:r>
          </a:p>
          <a:p>
            <a:pPr algn="ctr"/>
            <a:r>
              <a:rPr sz="1300" b="0">
                <a:solidFill>
                  <a:srgbClr val="323130"/>
                </a:solidFill>
                <a:latin typeface="Segoe UI"/>
              </a:rPr>
              <a:t>Bytes loaded into RAM via io.BytesIO</a:t>
            </a:r>
          </a:p>
          <a:p>
            <a:pPr algn="ctr"/>
            <a:r>
              <a:rPr sz="1300" b="0">
                <a:solidFill>
                  <a:srgbClr val="323130"/>
                </a:solidFill>
                <a:latin typeface="Segoe UI"/>
              </a:rPr>
              <a:t>Parse per file format</a:t>
            </a:r>
          </a:p>
          <a:p>
            <a:pPr algn="ctr"/>
            <a:r>
              <a:rPr sz="1300" b="0">
                <a:solidFill>
                  <a:srgbClr val="323130"/>
                </a:solidFill>
                <a:latin typeface="Segoe UI"/>
              </a:rPr>
              <a:t>Markers [PAGE N] / [SHEET] / [SLIDE]</a:t>
            </a:r>
          </a:p>
          <a:p>
            <a:pPr algn="ctr"/>
            <a:r>
              <a:rPr sz="1300" b="0">
                <a:solidFill>
                  <a:srgbClr val="323130"/>
                </a:solidFill>
                <a:latin typeface="Segoe UI"/>
              </a:rPr>
              <a:t>Line-oriented plain 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29600" y="3383280"/>
            <a:ext cx="548640" cy="4572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2286000"/>
            <a:ext cx="2743200" cy="274320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RAM Cache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item_id -&gt; text
Subsequent greps
skip the download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Grep Step — extract context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4782"/>
                </a:solidFill>
                <a:latin typeface="Segoe UI"/>
              </a:rPr>
              <a:t>Multi-pattern regex on the cached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029200" cy="10972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LLM-generated pattern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(metric|BLEU|ROUGE|recall|F1)</a:t>
            </a:r>
          </a:p>
        </p:txBody>
      </p:sp>
      <p:sp>
        <p:nvSpPr>
          <p:cNvPr id="5" name="Down Arrow 4"/>
          <p:cNvSpPr/>
          <p:nvPr/>
        </p:nvSpPr>
        <p:spPr>
          <a:xfrm>
            <a:off x="2743200" y="2926080"/>
            <a:ext cx="457200" cy="36576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029200" cy="301752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/>
            <a:r>
              <a:rPr sz="1400" b="1">
                <a:solidFill>
                  <a:srgbClr val="004782"/>
                </a:solidFill>
                <a:latin typeface="Segoe UI"/>
              </a:rPr>
              <a:t>Output — chunks with plus/minus 5 lines</a:t>
            </a:r>
          </a:p>
          <a:p>
            <a:pPr algn="l"/>
            <a:r>
              <a:rPr sz="1100" b="0">
                <a:solidFill>
                  <a:srgbClr val="605E5C"/>
                </a:solidFill>
                <a:latin typeface="Segoe UI"/>
              </a:rPr>
              <a:t>   L11: Section 4. Evaluation</a:t>
            </a:r>
          </a:p>
          <a:p>
            <a:pPr algn="l"/>
            <a:r>
              <a:rPr sz="1100" b="0">
                <a:solidFill>
                  <a:srgbClr val="605E5C"/>
                </a:solidFill>
                <a:latin typeface="Segoe UI"/>
              </a:rPr>
              <a:t>   L12: </a:t>
            </a:r>
          </a:p>
          <a:p>
            <a:pPr algn="l"/>
            <a:r>
              <a:rPr sz="1100" b="1">
                <a:solidFill>
                  <a:srgbClr val="0078D4"/>
                </a:solidFill>
                <a:latin typeface="Segoe UI"/>
              </a:rPr>
              <a:t>&gt;&gt; L13: We use BLEU as primary metric</a:t>
            </a:r>
          </a:p>
          <a:p>
            <a:pPr algn="l"/>
            <a:r>
              <a:rPr sz="1100" b="0">
                <a:solidFill>
                  <a:srgbClr val="605E5C"/>
                </a:solidFill>
                <a:latin typeface="Segoe UI"/>
              </a:rPr>
              <a:t>   L14: and ROUGE-L for generation.</a:t>
            </a:r>
          </a:p>
          <a:p>
            <a:pPr algn="l"/>
            <a:r>
              <a:rPr sz="1100" b="0">
                <a:solidFill>
                  <a:srgbClr val="605E5C"/>
                </a:solidFill>
                <a:latin typeface="Segoe UI"/>
              </a:rPr>
              <a:t>   L15: 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486400" cy="100584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Merge overlapping windows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Two near-by hits become one chunk — no duplicates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34640"/>
            <a:ext cx="5486400" cy="100584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Cap at 10 chunks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Avoid blowing up the LLM context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486400" cy="100584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Log to debug/grep.log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Full context saved for inspection later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029200"/>
            <a:ext cx="5486400" cy="10058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Cite line numbers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LLM references exact lines in its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Final Step — synthesize and cite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474720" cy="411480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LLM inputs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- User query
- Search snippets
- Grep chunks
- File metadata
(No full text!)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297680" y="3291840"/>
            <a:ext cx="457200" cy="4572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0" y="2377440"/>
            <a:ext cx="2560320" cy="2560320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LLM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synthesizes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589520" y="3291840"/>
            <a:ext cx="457200" cy="4572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463040"/>
            <a:ext cx="3566160" cy="411480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Final Answer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Concise reply
+ Citations:
[file.pdf, L42]
[doc.docx, PAGE 3]
User can click
to open source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4782"/>
                </a:solidFill>
                <a:latin typeface="Segoe UI"/>
              </a:rPr>
              <a:t>LLM must cite — if nothing is found, it says so without inventing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Comparison — Traditional RAG vs This Agent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69080"/>
                <a:gridCol w="406908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Traditional RAG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Agentic Keyword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Dedicated vector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None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Chunking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Mandatory upfront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Not needed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Exact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Often misses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Perfect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Document updates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Re-index everything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Instant (Microsoft indexes)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Snippet shape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Fixed-size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Dynamic plus/minus N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Embedding + storage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LLM calls only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25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Simpler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No vector DB, no re-indexing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4028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Instant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317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Microsoft already indexes — query and go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Exact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Never misses product codes or technical terms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16052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LLM-driven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2519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Generates keywords, retries strategies, cites sources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12064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66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Transparent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2120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Every step streamed live and fully logged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8D4"/>
                </a:solidFill>
                <a:latin typeface="Segoe UI"/>
              </a:rPr>
              <a:t>Microsoft 365 Keyword-Search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